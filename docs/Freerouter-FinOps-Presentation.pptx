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257" r:id="rId4"/>
    <p:sldId id="258" r:id="rId5"/>
    <p:sldId id="28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3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60073"/>
              </a:gs>
              <a:gs pos="100000">
                <a:srgbClr val="A100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 dirty="0">
                <a:solidFill>
                  <a:srgbClr val="CCB0E6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dirty="0">
                <a:solidFill>
                  <a:srgbClr val="FFFFFF"/>
                </a:solidFill>
                <a:latin typeface="Calibri"/>
              </a:rPr>
              <a:t>Spending Smarter 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dirty="0">
                <a:solidFill>
                  <a:srgbClr val="E6D9F2"/>
                </a:solidFill>
                <a:latin typeface="Calibri"/>
              </a:rPr>
              <a:t>The FinOps principles built into </a:t>
            </a:r>
            <a:r>
              <a:rPr sz="2200" b="0" dirty="0" err="1">
                <a:solidFill>
                  <a:srgbClr val="E6D9F2"/>
                </a:solidFill>
                <a:latin typeface="Calibri"/>
              </a:rPr>
              <a:t>FreeRouter</a:t>
            </a:r>
            <a:endParaRPr sz="2200" b="0" dirty="0">
              <a:solidFill>
                <a:srgbClr val="E6D9F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spc="200">
                <a:solidFill>
                  <a:srgbClr val="CCB0E6"/>
                </a:solidFill>
                <a:latin typeface="Calibri"/>
              </a:rPr>
              <a:t>A NON-TECHNICAL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 dirty="0">
                <a:solidFill>
                  <a:srgbClr val="FFFF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95A7-001E-3A8E-A3E5-CADFDCF7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20F6E3-A4EA-A74B-DD4A-296306D0DFC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D9405-9093-A55E-E30F-58A4DD2EABAC}"/>
              </a:ext>
            </a:extLst>
          </p:cNvPr>
          <p:cNvSpPr txBox="1"/>
          <p:nvPr/>
        </p:nvSpPr>
        <p:spPr>
          <a:xfrm>
            <a:off x="8686800" y="365760"/>
            <a:ext cx="3383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1000" b="0" spc="200">
                <a:solidFill>
                  <a:srgbClr val="CCB0E6"/>
                </a:solidFill>
                <a:latin typeface="Calibri"/>
              </a:defRPr>
            </a:lvl1pPr>
          </a:lstStyle>
          <a:p>
            <a:r>
              <a:rPr dirty="0"/>
              <a:t>ACCENTURE  |  FREEROUTER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DB7848-6117-501B-3BDF-9461C2C05D41}"/>
              </a:ext>
            </a:extLst>
          </p:cNvPr>
          <p:cNvSpPr/>
          <p:nvPr/>
        </p:nvSpPr>
        <p:spPr>
          <a:xfrm>
            <a:off x="731520" y="182880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D49A1-BC58-BEA2-5785-D737FFE0186A}"/>
              </a:ext>
            </a:extLst>
          </p:cNvPr>
          <p:cNvSpPr txBox="1"/>
          <p:nvPr/>
        </p:nvSpPr>
        <p:spPr>
          <a:xfrm>
            <a:off x="731520" y="2011680"/>
            <a:ext cx="109728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200" b="1" dirty="0">
                <a:solidFill>
                  <a:schemeClr val="bg1"/>
                </a:solidFill>
                <a:latin typeface="Calibri"/>
              </a:rPr>
              <a:t>FinOps</a:t>
            </a:r>
            <a:endParaRPr sz="5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C4714-E1EB-B8A4-ABE1-05117B97BBA6}"/>
              </a:ext>
            </a:extLst>
          </p:cNvPr>
          <p:cNvSpPr txBox="1"/>
          <p:nvPr/>
        </p:nvSpPr>
        <p:spPr>
          <a:xfrm>
            <a:off x="11338560" y="6015633"/>
            <a:ext cx="64008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 dirty="0">
                <a:solidFill>
                  <a:schemeClr val="bg1"/>
                </a:solidFill>
                <a:latin typeface="Calibri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7002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AI costs can spiral overnight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When teams use large language models, a single mistake - a runaway loop, an over-eager experiment - can burn through a month's budget in minutes. Finance can't see it coming, platform teams can't tell who caused it, and compliance has no way to apply guardrails in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$$$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Unbounded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No caps means no ceiling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25786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No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Who used what, and why?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93024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3024" y="25786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Reactive, not proactive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Surprises arrive at month-end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Without controls, leaders are forced to choose between innovation and predictability.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is FinOps?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FinOps is the operating model for managing variable, consumption-based spending. It treats every dollar like a decision - made jointly by the people who build, the people who pay, and the people who govern.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Financial accountability for variable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072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Cloud-style, on-demand consumption needs cloud-style cost discipline. AI is the same shape: usage spikes, prices change, and bills follow afterwards.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0098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0098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 discipline, not a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FinOps is a way of working - bringing engineering, finance, and the business onto the same page about how money is spent on shared, elastic infrastructure.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Real-time, not month-end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7997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The unit of decision is a request, not an invoice. Visibility, ownership, and optimization happen continuously - while the workload is still running.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1888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7375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7375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Adopted by the FinOps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An open, vendor-neutral set of practices originally codified for cloud cost management. The same playbook now applies to AI consumption.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240247-CD3B-8B8A-DCC0-D0BE474B23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7C79F-00F9-63E0-92C2-F63333B1EC4D}"/>
              </a:ext>
            </a:extLst>
          </p:cNvPr>
          <p:cNvSpPr txBox="1"/>
          <p:nvPr/>
        </p:nvSpPr>
        <p:spPr>
          <a:xfrm>
            <a:off x="8686800" y="365760"/>
            <a:ext cx="3383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1000" b="0" spc="200">
                <a:solidFill>
                  <a:srgbClr val="CCB0E6"/>
                </a:solidFill>
                <a:latin typeface="Calibri"/>
              </a:defRPr>
            </a:lvl1pPr>
          </a:lstStyle>
          <a:p>
            <a:r>
              <a:rPr dirty="0"/>
              <a:t>ACCENTURE  |  FREEROUTER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99457-7153-BAC8-7601-281C79B3E8C2}"/>
              </a:ext>
            </a:extLst>
          </p:cNvPr>
          <p:cNvSpPr/>
          <p:nvPr/>
        </p:nvSpPr>
        <p:spPr>
          <a:xfrm>
            <a:off x="731520" y="182880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6BF9A-6F97-369A-E300-82C8D0C86832}"/>
              </a:ext>
            </a:extLst>
          </p:cNvPr>
          <p:cNvSpPr txBox="1"/>
          <p:nvPr/>
        </p:nvSpPr>
        <p:spPr>
          <a:xfrm>
            <a:off x="731520" y="2011680"/>
            <a:ext cx="109728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200" b="1" dirty="0" err="1">
                <a:solidFill>
                  <a:schemeClr val="bg1"/>
                </a:solidFill>
                <a:latin typeface="Calibri"/>
              </a:rPr>
              <a:t>FreeRouter</a:t>
            </a:r>
            <a:endParaRPr sz="5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B9C4E-CEA5-2D16-5CDA-ED2928059316}"/>
              </a:ext>
            </a:extLst>
          </p:cNvPr>
          <p:cNvSpPr txBox="1"/>
          <p:nvPr/>
        </p:nvSpPr>
        <p:spPr>
          <a:xfrm>
            <a:off x="11338560" y="6015633"/>
            <a:ext cx="64008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 dirty="0">
                <a:solidFill>
                  <a:schemeClr val="bg1"/>
                </a:solidFill>
                <a:latin typeface="Calibri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3082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FINOPS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Five disciplines, applied continuously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These are the practices every FinOps programme is built on. The remainder of this deck shows how FreeRouter delivers each one out of the box - for AI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640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Every dollar visible - by team, user, and use case - in real time, not at month-end.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79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2331720"/>
            <a:ext cx="640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24963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9" y="28346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Teams that consume AI are accountable for that spend. Budgets cascade from the top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19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9" y="2331720"/>
            <a:ext cx="640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24963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28346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Match the model to the work. Premium models for premium tasks; cheaper models everywhere else.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640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507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8912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Forecast burn rate. Catch budget risk days before it becomes a budget overrun.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79" y="3886200"/>
            <a:ext cx="640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40507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39" y="438912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Prices change, priorities shift, models evolve. Controls must update without redeploying systems.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19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19" y="3886200"/>
            <a:ext cx="640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79" y="40507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One operating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79" y="438912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Together: a single discipline that turns variable, opaque AI cost into a managed, predictable practice.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INTRODUCING FREEROUTER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is FreeRouter?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is an enterprise-grade routing layer for AI that gives leaders control over spending, security, and provider choice - all in one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A smart gateway for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FreeRouter sits between your applications and the AI providers - every request flows through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3347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Multi-provider,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718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Works with OpenAI, Anthropic, Google Gemini, Mistral, and more - swap or combine without redeploying.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Bring Your Own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Each user supplies their own AI provider key. Keys are encrypted and never logged or exposed.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7083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Embed it, don't host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0916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 lightweight library that drops into your existing applications - no extra infrastructure to operate.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is put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single embeddable library: every request flows from your applications, through FreeRouter's security and routing engine, out to the chosen AI provider - with pluggable adapters for storage and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200">
                <a:solidFill>
                  <a:srgbClr val="FFFFFF"/>
                </a:solidFill>
                <a:latin typeface="Calibri"/>
              </a:rPr>
              <a:t>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Application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OpenAI-compatible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BYOK key 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Command-line 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828800"/>
            <a:ext cx="6126480" cy="3520440"/>
          </a:xfrm>
          <a:prstGeom prst="rect">
            <a:avLst/>
          </a:prstGeom>
          <a:solidFill>
            <a:srgbClr val="F2E6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17520" y="1828800"/>
            <a:ext cx="6126480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0" y="182880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spc="250">
                <a:solidFill>
                  <a:srgbClr val="FFFFFF"/>
                </a:solidFill>
                <a:latin typeface="Calibri"/>
              </a:rPr>
              <a:t>FREEROUTER 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331720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2331720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Security &amp; 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64023" y="2331720"/>
            <a:ext cx="12588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Encrypted Key Vault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0864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5728" y="2331720"/>
            <a:ext cx="12588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Prompt Safety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92567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47432" y="2331720"/>
            <a:ext cx="12588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Request Signing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319272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46120" y="3319272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Smart 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64023" y="3319272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Routing Rules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0438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45301" y="3319272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Budget Guardrails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1716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26579" y="3319272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Cost-Aware 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2994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7858" y="3319272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Rate Limiting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306824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4306824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Visibility &amp; Control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59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64023" y="4306824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Audit Trail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0438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45301" y="4306824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Live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1716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26579" y="4306824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Spend Tracking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2994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7858" y="4306824"/>
            <a:ext cx="89839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Burn-Rate Forecast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200">
                <a:solidFill>
                  <a:srgbClr val="FFFFFF"/>
                </a:solidFill>
                <a:latin typeface="Calibri"/>
              </a:rPr>
              <a:t>AI PROVIDERS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418320" y="228600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82912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OpenAI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2880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418320" y="288036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82912" y="28803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Anthropic (Claude)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418320" y="347472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82912" y="34747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Google Gemini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4069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406908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82912" y="406908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Mistral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466344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18320" y="466344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82912" y="46634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Groq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788920" y="3383280"/>
            <a:ext cx="502920" cy="45720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ight Arrow 66"/>
          <p:cNvSpPr/>
          <p:nvPr/>
        </p:nvSpPr>
        <p:spPr>
          <a:xfrm>
            <a:off x="9189720" y="3383280"/>
            <a:ext cx="502920" cy="45720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own Arrow 67"/>
          <p:cNvSpPr/>
          <p:nvPr/>
        </p:nvSpPr>
        <p:spPr>
          <a:xfrm>
            <a:off x="5806440" y="5394959"/>
            <a:ext cx="548640" cy="292608"/>
          </a:xfrm>
          <a:prstGeom prst="downArrow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463040" y="5532120"/>
            <a:ext cx="923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45920" y="5577840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200">
                <a:solidFill>
                  <a:srgbClr val="460073"/>
                </a:solidFill>
                <a:latin typeface="Calibri"/>
              </a:rPr>
              <a:t>PLUGGABLE ADAPTERS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645920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645920" y="5897880"/>
            <a:ext cx="16861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Key Store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41801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441801" y="5897880"/>
            <a:ext cx="16861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Spend Store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37683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37683" y="5897880"/>
            <a:ext cx="16861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Pricing Source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33564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033564" y="5897880"/>
            <a:ext cx="16861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Rules Source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29446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29446" y="5897880"/>
            <a:ext cx="16861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Rate Limiter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THE FREEROUTER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solves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Each pain point in AI adoption maps to a built-in capability - so leaders move from firefighting to forecasting.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5C5C5C"/>
                </a:solidFill>
                <a:latin typeface="Calibri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30352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468880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FFFFFF"/>
                </a:solidFill>
                <a:latin typeface="Calibri"/>
              </a:rPr>
              <a:t>FREEROUTER SOLVES IT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44368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Costs explode without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44368"/>
            <a:ext cx="457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44368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944368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944368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Five-tier budget cascade catches overspend before it happens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31336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31336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Teams use the most expensive model for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31336"/>
            <a:ext cx="457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31336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831336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831336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Routes batch and back-office work to cheaper, capable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18304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718304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Finance can't tell who used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718304"/>
            <a:ext cx="457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18304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718304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718304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Real-time spend tracking and ERP-ready chargeback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05272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60527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Provider outages break the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605272"/>
            <a:ext cx="457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605272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5605272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560527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Automatic fallback across providers - no redeploy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922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64922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Compliance changes take weeks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6492240"/>
            <a:ext cx="457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6492240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6492240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64922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Block models or update policies in seconds,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FINOPS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aligns to FinOps and its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Every FinOps principle maps to a built-in FreeRouter capability - delivered automatically, on every request, before the request leaves the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303520" cy="365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5C5C5C"/>
                </a:solidFill>
                <a:latin typeface="Calibri"/>
              </a:rPr>
              <a:t>FINOPS PRINCIPLE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23160"/>
            <a:ext cx="530352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423160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FFFFFF"/>
                </a:solidFill>
                <a:latin typeface="Calibri"/>
              </a:rPr>
              <a:t>FREEROUTER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8036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80360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880360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Live spend by user/team/dept/org, audit trail, ERP-ready chargeback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8503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685032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685032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685032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85032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685032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685032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Five-tier budget cascade - global &gt; org &gt; dept &gt; team &gt; 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9704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489704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489704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489704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89704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4489704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489704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Cost-aware routing, cache-aware pricing, value-based rules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9437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5294376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294376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294376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294376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5294376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5294376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Burn-rate forecasting with on-track / at-risk / over-budget signals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9904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6099048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6099048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6099048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6099048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6099048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6099048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Hot-reload pricing, rules, model blocks - via code or the admin GUI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ENTERPRISE &amp; CLOUD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works in the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Zero infrastructure dependencies, zero third-party packages. FreeRouter deploys natively wherever the business already runs - container, serverless, or hybrid - and aligns with the identity, secrets, and persistence services each cloud already provides.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3578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3578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Amazon Web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64992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in any container service: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49040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ECS, EKS, Fargate, App 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3088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17136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17136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DynamoDB or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0118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01184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AWS Secrets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85232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Bedrock models routed alongside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1584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1584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1584" y="2459736"/>
            <a:ext cx="3578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1584" y="2834640"/>
            <a:ext cx="3578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Microsoft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4464" y="336499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3064" y="3364992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on App Service or 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4464" y="374904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3064" y="3749040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Azure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4464" y="4133088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3064" y="4133088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Cosmos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4464" y="4517136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3064" y="4517136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Azure Key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4464" y="490118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3064" y="4901184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Azure OpenAI routed natively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4464" y="528523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3064" y="5285232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Microsoft Entra ID for identity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528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34528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34528" y="2459736"/>
            <a:ext cx="35783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4528" y="2834640"/>
            <a:ext cx="3578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Google Cloud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7408" y="336499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6008" y="3364992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on Cloud Run or GKE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7408" y="374904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6008" y="3749040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Cloud Functions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7408" y="4133088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6008" y="4133088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Firestore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7408" y="4517136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6008" y="4517136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Secret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7408" y="490118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6008" y="4901184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Vertex AI / Gemini routed natively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7408" y="528523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6008" y="5285232"/>
            <a:ext cx="3029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IAM via Workload Identity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612648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7240" y="61264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Cloud-agnostic by design - the same library runs unchanged on AWS, Azure, and GCP, and routes to each cloud's native AI services alongside the public providers.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secure is FreeRouter?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Defence in depth across keys, requests, inputs, and operations. The full pattern catalogue and source references are in the README and FAQ appendices.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6400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AES-256-GCM key 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Every API key encrypted at rest with a per-user derived key. Plaintext is materialised only for the outbound request, then zero-filled.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377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377440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377440"/>
            <a:ext cx="6400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505456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HMAC-SHA256 request signing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3464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Each request signed over user, model, content hash, and timestamp. Replay window enforced; constant-time verification.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822191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822191"/>
            <a:ext cx="6400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50207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Prompt-injection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79391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16 detection patterns + NFKD unicode normalization defeat ignore-previous-instructions, role-spoof, and encoded-injection attacks.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822191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822191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3822191"/>
            <a:ext cx="6400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950207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Strict input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279391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Configurable input length cap; allowed-models gate; provider blocklist; default deny-list for non-sanctioned providers.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6694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266944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266944"/>
            <a:ext cx="6400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9496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Structured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24144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Every key event, request, block, and policy decision emits a typed entry to your sink - SOC 2, ISO, and internal review ready.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26694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5266944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5266944"/>
            <a:ext cx="6400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39496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Secrets out of source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5724144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BYOK keystore lives in a 0600 per-user file, never in JSON config or .env. Config Manager auth uses PBKDF2-HMAC-SHA256 (200k iters).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1D35-8E3E-B249-4737-9D3F8A9AB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AE4805-F06D-F6DE-AA0D-2F59CA68CA5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7140CF-A359-8AFE-0122-EAD70727F322}"/>
              </a:ext>
            </a:extLst>
          </p:cNvPr>
          <p:cNvSpPr txBox="1"/>
          <p:nvPr/>
        </p:nvSpPr>
        <p:spPr>
          <a:xfrm>
            <a:off x="8686800" y="365760"/>
            <a:ext cx="3383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r">
              <a:defRPr sz="1000" b="0" spc="200">
                <a:solidFill>
                  <a:srgbClr val="CCB0E6"/>
                </a:solidFill>
                <a:latin typeface="Calibri"/>
              </a:defRPr>
            </a:lvl1pPr>
          </a:lstStyle>
          <a:p>
            <a:r>
              <a:rPr dirty="0"/>
              <a:t>ACCENTURE  |  FREEROUTER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E1A36-44D4-3029-7592-79FBD16862A8}"/>
              </a:ext>
            </a:extLst>
          </p:cNvPr>
          <p:cNvSpPr/>
          <p:nvPr/>
        </p:nvSpPr>
        <p:spPr>
          <a:xfrm>
            <a:off x="731520" y="182880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F642A-9002-DD7D-5DD7-97AFBB23B74A}"/>
              </a:ext>
            </a:extLst>
          </p:cNvPr>
          <p:cNvSpPr txBox="1"/>
          <p:nvPr/>
        </p:nvSpPr>
        <p:spPr>
          <a:xfrm>
            <a:off x="731520" y="2011680"/>
            <a:ext cx="10972800" cy="1600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200" b="1" dirty="0" err="1">
                <a:solidFill>
                  <a:schemeClr val="bg1"/>
                </a:solidFill>
                <a:latin typeface="Calibri"/>
              </a:rPr>
              <a:t>FreeRouter</a:t>
            </a:r>
            <a:r>
              <a:rPr lang="en-US" sz="5200" b="1" dirty="0">
                <a:solidFill>
                  <a:schemeClr val="bg1"/>
                </a:solidFill>
                <a:latin typeface="Calibri"/>
              </a:rPr>
              <a:t> - </a:t>
            </a:r>
          </a:p>
          <a:p>
            <a:pPr algn="l"/>
            <a:r>
              <a:rPr lang="en-US" sz="5200" b="1" dirty="0">
                <a:solidFill>
                  <a:schemeClr val="bg1"/>
                </a:solidFill>
                <a:latin typeface="Calibri"/>
              </a:rPr>
              <a:t>Built Around Enterprise FinOps</a:t>
            </a:r>
            <a:endParaRPr sz="5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A5C25-F8CF-C9A3-C29E-42C098FFAA24}"/>
              </a:ext>
            </a:extLst>
          </p:cNvPr>
          <p:cNvSpPr txBox="1"/>
          <p:nvPr/>
        </p:nvSpPr>
        <p:spPr>
          <a:xfrm>
            <a:off x="11338560" y="6015633"/>
            <a:ext cx="64008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 dirty="0">
                <a:solidFill>
                  <a:schemeClr val="bg1"/>
                </a:solidFill>
                <a:latin typeface="Calibri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6173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rgbClr val="CCB0E6"/>
                </a:solidFill>
                <a:latin typeface="Calibri"/>
              </a:rPr>
              <a:t>Real-time visibility into who is spending what, on which model, for which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1 -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Every request, fully attributed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records every interaction with full context - so leaders never have to ask "where did that bill come from?"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spend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529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Current spend by user, team, department, and organisation - available at any moment.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4670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Audit trail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Every request, key change, and budget event is logged with who, what, when, and why.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7822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Chargeback-ready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569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One click produces an ERP-ready breakdown - by team, by model, by provider, for any date range.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91947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19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Threshold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12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At 50%, 80%, 95% of budget - automated notifications go to the right people, before it's too late.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Own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Budgets cascade from the enterprise down to the individual - accountability at every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2 -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Budgets cascade through the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request must satisfy every budget above it. Engineering's overspend cannot consume the sales team's budget. Each layer protects the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5476" y="2468880"/>
            <a:ext cx="68580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65476" y="246888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Global enterprise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52928"/>
            <a:ext cx="1218895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8396" y="3017520"/>
            <a:ext cx="5852160" cy="3840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8396" y="3017520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401568"/>
            <a:ext cx="1218895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1316" y="3566160"/>
            <a:ext cx="4846320" cy="384048"/>
          </a:xfrm>
          <a:prstGeom prst="rect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1316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950208"/>
            <a:ext cx="1218895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4236" y="4114800"/>
            <a:ext cx="38404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74236" y="41148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460073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498848"/>
            <a:ext cx="1218895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7156" y="4663440"/>
            <a:ext cx="2834640" cy="384048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7156" y="466344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460073"/>
                </a:solidFill>
                <a:latin typeface="Calibri"/>
              </a:rPr>
              <a:t>Individual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Five tiers, all checked before every single request. No team can blow another team's budget.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2 -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When a budget is reached, choose your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Different teams need different protections. A research lab might warn; a customer-facing product must block. FreeRouter lets each policy decide.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828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560320"/>
            <a:ext cx="50292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42032" y="2560320"/>
            <a:ext cx="48646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560320"/>
            <a:ext cx="4114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2" y="2560320"/>
            <a:ext cx="39502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44368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94436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77440" y="343814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42032" y="2944368"/>
            <a:ext cx="4700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Request is rejected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94436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343814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71232" y="2944368"/>
            <a:ext cx="3785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Hard caps, customer billing protection.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472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94106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447288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Downgrade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472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77440" y="394106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42032" y="3447288"/>
            <a:ext cx="4700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Re-routed to a cheaper model so work continues.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4728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06640" y="394106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71232" y="3447288"/>
            <a:ext cx="3785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Keep services running on a smaller footprint.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5020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44398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3950208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Warn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95020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377440" y="444398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42032" y="3950208"/>
            <a:ext cx="4700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Request proceeds, a warning is logged.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95020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06640" y="444398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71232" y="3950208"/>
            <a:ext cx="3785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Internal teams who self-manage spend.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45312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494690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4453128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Notify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4531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377440" y="494690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542032" y="4453128"/>
            <a:ext cx="4700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Triggers external alerts and dashboards.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45312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406640" y="494690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71232" y="4453128"/>
            <a:ext cx="37856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Slack, email, ticketing integration.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Optimize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Spend the right amount on the right work. Pay premium prices only when premium quality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3 -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Match the model to the moment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Not every task needs a flagship model. FreeRouter automatically routes lower-priority work to the most cost-effective option - without sacrificing quality on the work that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Cheapest viable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For batch and back-office work, FreeRouter picks the lowest-cost model that meets the requirement.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Realtime stays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Customer-facing, latency-sensitive requests always use the chosen flagship model - no surprises.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Cache-aware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When providers offer cached-input discounts, FreeRouter recognises and applies them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pricing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When providers change their rates, FreeRouter updates without a redeploy. Cost calculations stay accurate.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Typical outcome: overnight batch jobs reduced from premium pricing to a fraction of the cost - often a 10x to 16x reduction.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3 -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When cost isn't the only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Sometimes quality, compliance, or business value override pure cost minimization. The Rules Engine lets leaders express those choices in plain business terms.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Legal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5074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Always uses the highest-quality model - contract review is no place to cut corners.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63347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Marketing bulk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074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Defaults to the cheapest viable model - volume matters more than nuance.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Code review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74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Always uses a top-tier model regardless of team - quality protects the codebase.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48056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448056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64515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Contractor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5074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Blocked from frontier models - controlled access, predictable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Rules can be updated by an admin in seconds - no engineering changes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it coming.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Forecast the future, not just the past. Catch budget risk before it becomes a budget overrun.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4 -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Burn-rate forecasting,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doesn't just track today's spend - it projects where the team is heading, and flags trouble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460073"/>
                </a:solidFill>
                <a:latin typeface="Calibri"/>
              </a:rPr>
              <a:t>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460073"/>
                </a:solidFill>
                <a:latin typeface="Calibri"/>
              </a:rPr>
              <a:t>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Over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On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844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Current burn rate suggests the team will end the month within budget. No action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07822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7083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Spend is trending toward the cap. Time to investigate, throttle non-critical use, or reset expectations.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974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Over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The forecast already exceeds the budget. Automated alerts fire so leaders can intervene immediately.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Adapt continuously.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Markets move. Prices change. Policies shift. FinOps controls must keep up - without redeploying.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5 - ADAPTABILITY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Change controls, not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FinOps platform that requires an engineering ticket for every change is a FinOps platform no one uses. FreeRouter is designed for live changes by people who manage cost, not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pricing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Edit a pricing file, the change is picked up automatically. No restart, no redeploy.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Hot-reloadable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Add, remove, or adjust routing rules at runtime. Incident response in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Compliance hold,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Block or unblock any model instantly across all teams - without affecting historical reporting.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Spend persistence across restarts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Budget counters survive system restarts. Accountability is never reset by accident.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5 - ADAPTABILITY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A control panel for the people who own the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An optional desktop configuration manager lets platform admins update budgets, rules, providers, pricing, and environment variables - without opening a terminal, editing JSON, or filing an engineering ticket.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Standalone and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 separate desktop app, never bundled with the router. Adopt it, ignore it, or remove it - the platform behaves identically either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Admin-only, key-protected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Single-admin access secured by a generated key with a salted, hashed digest stored locally. No key, no GUI.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Validated, atomic 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Every save runs the same structural checks the runtime uses; bad inputs are rejected before any file is written.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Local-only, cross-platform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Runs on Linux, macOS, and Windows. No network surface, no listening port - purely a file editor with guard rails.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The five principles, working as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applies all five FinOps principles to every single AI request - automatically, before the request leaves the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Real-time spend, audit trail, chargeback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Five-tier budget cascade - no team blows another team's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Cost-aware routing for batch work; quality-first routing where it matters.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Burn-rate forecasting flags trouble days before it hits the budget.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59552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614416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1441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90702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Live pricing, live rules, live policy - managed by admins, not engineers, through code or the optional configuration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9999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FinOps for AI,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A100FF"/>
                </a:solidFill>
                <a:latin typeface="Calibri"/>
              </a:rPr>
              <a:t>built in from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Calibri"/>
              </a:rPr>
              <a:t>Predictable spending. Clear accountability. Real optimization. Without slowing the business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2608</Words>
  <Application>Microsoft Macintosh PowerPoint</Application>
  <PresentationFormat>Widescreen</PresentationFormat>
  <Paragraphs>442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Ahuja, Rajat</cp:lastModifiedBy>
  <cp:revision>2</cp:revision>
  <dcterms:created xsi:type="dcterms:W3CDTF">2013-01-27T09:14:16Z</dcterms:created>
  <dcterms:modified xsi:type="dcterms:W3CDTF">2026-05-01T17:35:20Z</dcterms:modified>
  <cp:category/>
</cp:coreProperties>
</file>